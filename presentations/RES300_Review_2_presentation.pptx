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3" r:id="rId3"/>
    <p:sldId id="265" r:id="rId4"/>
    <p:sldId id="26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70" r:id="rId13"/>
    <p:sldId id="272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036B9-B418-C3BC-F840-A2C606D41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6D2392-6122-530D-6D98-F9E2AC7E7694}"/>
              </a:ext>
            </a:extLst>
          </p:cNvPr>
          <p:cNvSpPr txBox="1"/>
          <p:nvPr/>
        </p:nvSpPr>
        <p:spPr>
          <a:xfrm>
            <a:off x="1093162" y="952742"/>
            <a:ext cx="97767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Convergence-Aware and Hash-Ring-Based Checkpointing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Fault-Tolerant Distributed Deep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806EC-A36E-8973-50CB-33CD960956CD}"/>
              </a:ext>
            </a:extLst>
          </p:cNvPr>
          <p:cNvSpPr txBox="1"/>
          <p:nvPr/>
        </p:nvSpPr>
        <p:spPr>
          <a:xfrm>
            <a:off x="560439" y="3968840"/>
            <a:ext cx="30855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Ananthakrishnan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49978-5684-7D08-85C6-6F490B4F2487}"/>
              </a:ext>
            </a:extLst>
          </p:cNvPr>
          <p:cNvSpPr txBox="1"/>
          <p:nvPr/>
        </p:nvSpPr>
        <p:spPr>
          <a:xfrm>
            <a:off x="7422080" y="3968840"/>
            <a:ext cx="40755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127018044 – Potta Sai Varshith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Tech Computer Science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Systems (CSBS)</a:t>
            </a:r>
          </a:p>
        </p:txBody>
      </p:sp>
    </p:spTree>
    <p:extLst>
      <p:ext uri="{BB962C8B-B14F-4D97-AF65-F5344CB8AC3E}">
        <p14:creationId xmlns:p14="http://schemas.microsoft.com/office/powerpoint/2010/main" val="73469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B661-4A77-0F1F-58D8-86DB3F0B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Review I Feedback Was Addressed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5CC646-96D8-2864-466D-0BAB9A1D7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196928"/>
              </p:ext>
            </p:extLst>
          </p:nvPr>
        </p:nvGraphicFramePr>
        <p:xfrm>
          <a:off x="609600" y="2765901"/>
          <a:ext cx="10972800" cy="329184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7684345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836334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034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Checkpoint overhead measured across all four modes; epoch is current lowest-cost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021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convergence-aware checkpoint 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48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Making title more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revised to reflect adaptive and hash-ring checkpointing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74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logs of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logs unavailable; controlled runtime fault injection used instead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95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checkpoint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Convergence-aware checkpointing implemented and evaluated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4706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BCFB376-44DA-B650-CF35-3ED1C6F387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739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DF98-DA41-00FE-160B-C8227180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26E7-684D-4DF4-482B-736D1D7F1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Convergence-aware scheduler: adapts checkpoint timing from observed loss trend instead of using only fixed epochs.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Hash ring storage: distributes checkpoint ownership and caching across nodes to avoid centralized recovery bottlenecks.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Combined strategy: tries to use adaptive checkpoint timing with distributed local-cache recovery.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Intended outcome: reduce lost work after failures while keeping checkpoint cost manageable.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C6040-37F6-43D2-E5D8-015E107A4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28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BC55-9C69-74A2-7568-4FC38863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24FA52FA-1AE9-F6D6-9D62-966A80F897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1" y="1447136"/>
            <a:ext cx="1076553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Model: EfficientNet-B0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Training configuration: 20 epochs, batch size 2, world size 4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Modes compared: epoch, convergence, hash-ring-epoch, convergence-hash-ring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Metrics: total training time, checkpoint count, checkpoint overhead, validation accuracy, recovery success, resumed epoch, and time to resume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Fault model: runtime checkpoint fault injection followed by restart and resume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0079D-C52C-3673-8065-007B6199B3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2422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AAAE-1769-125B-7589-7D8CFE5E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EC6DF7-0ECE-81E7-9D9D-51BF58E3B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987" y="1600200"/>
            <a:ext cx="8344214" cy="4525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B649FB-1138-9C53-F042-1609763632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A7C8E-B63E-8243-2CEC-77DD369E7531}"/>
              </a:ext>
            </a:extLst>
          </p:cNvPr>
          <p:cNvSpPr txBox="1"/>
          <p:nvPr/>
        </p:nvSpPr>
        <p:spPr>
          <a:xfrm>
            <a:off x="9656064" y="5250442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is better</a:t>
            </a:r>
          </a:p>
        </p:txBody>
      </p:sp>
    </p:spTree>
    <p:extLst>
      <p:ext uri="{BB962C8B-B14F-4D97-AF65-F5344CB8AC3E}">
        <p14:creationId xmlns:p14="http://schemas.microsoft.com/office/powerpoint/2010/main" val="21479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58B2-C6C7-583A-B63E-CC221149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F3EDEF-8591-3EEF-3AF5-951D371086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6897F7-DDD5-F507-E6EE-9D92977D57B9}"/>
              </a:ext>
            </a:extLst>
          </p:cNvPr>
          <p:cNvSpPr txBox="1"/>
          <p:nvPr/>
        </p:nvSpPr>
        <p:spPr>
          <a:xfrm>
            <a:off x="9262872" y="5506474"/>
            <a:ext cx="246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is better until quality degrades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F3B4CF-89A6-EBA8-B921-3B0701A6C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4317" y="1600200"/>
            <a:ext cx="834421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4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6CA0-D186-0AC4-D463-314F0DFF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6D99C5-4C34-30B6-4CBA-71A4331B7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82AF4-BEBD-03C9-3915-FAB4870E1ECE}"/>
              </a:ext>
            </a:extLst>
          </p:cNvPr>
          <p:cNvSpPr txBox="1"/>
          <p:nvPr/>
        </p:nvSpPr>
        <p:spPr>
          <a:xfrm>
            <a:off x="9262872" y="5506474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is better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D96C16B-2D51-446E-9CBE-BB47DFFD9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5173" y="1626842"/>
            <a:ext cx="834421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3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0E7C-9981-695C-694B-6A9259BA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21482F-614D-7760-F342-18067CEC9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AFBFB0-A39A-777E-74BD-654774F11827}"/>
              </a:ext>
            </a:extLst>
          </p:cNvPr>
          <p:cNvSpPr txBox="1"/>
          <p:nvPr/>
        </p:nvSpPr>
        <p:spPr>
          <a:xfrm>
            <a:off x="9262872" y="5506474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is better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B35BA8-915F-1A0F-CA81-7BF03F8AE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0248" y="1600200"/>
            <a:ext cx="833997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94D5-56FC-4AF7-0C58-8BD23203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251F53-48ED-0CAD-E27C-810F0EE4C9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8A6057-32E4-4A1F-C74A-9BBE11407689}"/>
              </a:ext>
            </a:extLst>
          </p:cNvPr>
          <p:cNvSpPr txBox="1"/>
          <p:nvPr/>
        </p:nvSpPr>
        <p:spPr>
          <a:xfrm>
            <a:off x="9262872" y="5506474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is better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6CAC0F-B2C2-B2D0-179D-031843400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1165" y="1536192"/>
            <a:ext cx="834421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94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A577A3-DDB9-B611-9C92-88FA6A30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62031"/>
              </p:ext>
            </p:extLst>
          </p:nvPr>
        </p:nvGraphicFramePr>
        <p:xfrm>
          <a:off x="760476" y="1897380"/>
          <a:ext cx="10671048" cy="3063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78508">
                  <a:extLst>
                    <a:ext uri="{9D8B030D-6E8A-4147-A177-3AD203B41FA5}">
                      <a16:colId xmlns:a16="http://schemas.microsoft.com/office/drawing/2014/main" val="3972847317"/>
                    </a:ext>
                  </a:extLst>
                </a:gridCol>
                <a:gridCol w="2207803">
                  <a:extLst>
                    <a:ext uri="{9D8B030D-6E8A-4147-A177-3AD203B41FA5}">
                      <a16:colId xmlns:a16="http://schemas.microsoft.com/office/drawing/2014/main" val="46915436"/>
                    </a:ext>
                  </a:extLst>
                </a:gridCol>
                <a:gridCol w="1888898">
                  <a:extLst>
                    <a:ext uri="{9D8B030D-6E8A-4147-A177-3AD203B41FA5}">
                      <a16:colId xmlns:a16="http://schemas.microsoft.com/office/drawing/2014/main" val="387807520"/>
                    </a:ext>
                  </a:extLst>
                </a:gridCol>
                <a:gridCol w="1741712">
                  <a:extLst>
                    <a:ext uri="{9D8B030D-6E8A-4147-A177-3AD203B41FA5}">
                      <a16:colId xmlns:a16="http://schemas.microsoft.com/office/drawing/2014/main" val="927169831"/>
                    </a:ext>
                  </a:extLst>
                </a:gridCol>
                <a:gridCol w="1275619">
                  <a:extLst>
                    <a:ext uri="{9D8B030D-6E8A-4147-A177-3AD203B41FA5}">
                      <a16:colId xmlns:a16="http://schemas.microsoft.com/office/drawing/2014/main" val="899711347"/>
                    </a:ext>
                  </a:extLst>
                </a:gridCol>
                <a:gridCol w="1778508">
                  <a:extLst>
                    <a:ext uri="{9D8B030D-6E8A-4147-A177-3AD203B41FA5}">
                      <a16:colId xmlns:a16="http://schemas.microsoft.com/office/drawing/2014/main" val="1891049469"/>
                    </a:ext>
                  </a:extLst>
                </a:gridCol>
              </a:tblGrid>
              <a:tr h="735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 (s)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Checkpoint Count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Checkpoint Overhead (%)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Val Acc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Val Acc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5095459"/>
                  </a:ext>
                </a:extLst>
              </a:tr>
              <a:tr h="3067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438.08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3154768"/>
                  </a:ext>
                </a:extLst>
              </a:tr>
              <a:tr h="57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436.91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5200210"/>
                  </a:ext>
                </a:extLst>
              </a:tr>
              <a:tr h="5897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Hash-Ring Epoch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464.49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3313497"/>
                  </a:ext>
                </a:extLst>
              </a:tr>
              <a:tr h="8563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 + Hash Ring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477.59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4410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20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048EF0-5C3D-9FCC-16CE-EF349F29A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320569"/>
              </p:ext>
            </p:extLst>
          </p:nvPr>
        </p:nvGraphicFramePr>
        <p:xfrm>
          <a:off x="1783080" y="2295144"/>
          <a:ext cx="8046720" cy="29527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60009">
                  <a:extLst>
                    <a:ext uri="{9D8B030D-6E8A-4147-A177-3AD203B41FA5}">
                      <a16:colId xmlns:a16="http://schemas.microsoft.com/office/drawing/2014/main" val="3416260922"/>
                    </a:ext>
                  </a:extLst>
                </a:gridCol>
                <a:gridCol w="1360009">
                  <a:extLst>
                    <a:ext uri="{9D8B030D-6E8A-4147-A177-3AD203B41FA5}">
                      <a16:colId xmlns:a16="http://schemas.microsoft.com/office/drawing/2014/main" val="2269344879"/>
                    </a:ext>
                  </a:extLst>
                </a:gridCol>
                <a:gridCol w="1360009">
                  <a:extLst>
                    <a:ext uri="{9D8B030D-6E8A-4147-A177-3AD203B41FA5}">
                      <a16:colId xmlns:a16="http://schemas.microsoft.com/office/drawing/2014/main" val="3029920866"/>
                    </a:ext>
                  </a:extLst>
                </a:gridCol>
                <a:gridCol w="1360009">
                  <a:extLst>
                    <a:ext uri="{9D8B030D-6E8A-4147-A177-3AD203B41FA5}">
                      <a16:colId xmlns:a16="http://schemas.microsoft.com/office/drawing/2014/main" val="485757779"/>
                    </a:ext>
                  </a:extLst>
                </a:gridCol>
                <a:gridCol w="2606684">
                  <a:extLst>
                    <a:ext uri="{9D8B030D-6E8A-4147-A177-3AD203B41FA5}">
                      <a16:colId xmlns:a16="http://schemas.microsoft.com/office/drawing/2014/main" val="2722888889"/>
                    </a:ext>
                  </a:extLst>
                </a:gridCol>
              </a:tblGrid>
              <a:tr h="5109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Recovery Success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Source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Resumed From Epoch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Time (s)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922451"/>
                  </a:ext>
                </a:extLst>
              </a:tr>
              <a:tr h="613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central-storage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2011593"/>
                  </a:ext>
                </a:extLst>
              </a:tr>
              <a:tr h="613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central-storage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4073506"/>
                  </a:ext>
                </a:extLst>
              </a:tr>
              <a:tr h="613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Hash-Ring Epoch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local-cache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7499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Convergence + Hash Ring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local-cache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36.36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447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54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862-97FF-6F80-002E-77AC6E4B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Interpretation, Analysis,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6F5F-AACE-2314-6029-00A01FBB5F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 is nearly identical across all four modes, so the main differences are systems-level rather than model-level.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Epoch checkpointing is the cheapest during normal training.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Convergence-aware checkpointing adds intelligent scheduling, but in current runs it does not reduce checkpoint count.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Hash ring increases checkpointing overhead during training, but it enables recovery from local cache instead of central storage.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7852F-0AD6-61F7-34ED-0A7DB09A54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most promising result is convergence + hash ring for recovery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Current evidence suggests a tradeoff: higher checkpoint overhead in exchange for potentially better fault recovery behavior.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Therefore, the contribution is best presented as an implemented comparative study of checkpointing tradeoffs with a promising recovery-oriented direction.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6D0-8526-D152-A3F8-639289AEB5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28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E869-918A-F060-E0A2-600D8F7A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4112EF-54D7-D03D-0BEB-DBEFE1B19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988179"/>
              </p:ext>
            </p:extLst>
          </p:nvPr>
        </p:nvGraphicFramePr>
        <p:xfrm>
          <a:off x="609600" y="2400141"/>
          <a:ext cx="1097280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7018083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813788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646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validation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73.75 across all matched full runs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34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Lowest checkpoint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Epoch mode: 1.33%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Convergence scheduling 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Adaptive timing implemented, but no accuracy gain yet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94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Hash ring 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Higher overhead, but distributed cache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23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observed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Convergence-hash-ring: 36.36s from local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06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Overall takeaway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model quality, different cost-recovery tradeoff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458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6679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02B2D56-9C25-C64D-7621-3083F3D199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256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F744-84D8-7D6A-6115-DF0E92C8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Next 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EDB49E-29FF-44FD-9A1A-B0236CE9F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849949"/>
              </p:ext>
            </p:extLst>
          </p:nvPr>
        </p:nvGraphicFramePr>
        <p:xfrm>
          <a:off x="609600" y="2765901"/>
          <a:ext cx="10972800" cy="329184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1084647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30310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8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and compared four checkpointing mechanisms for distributed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17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Strongest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Fastest observed recovery came from convergence-hash-ring local-cache resume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87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is still preliminary and based on one workload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713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 next 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more repeated fault campaigns and verify rollback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82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Longer-term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checkpoint timing and distributed cache policy to reduce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7661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B1BEA1A-0A99-4E33-B027-814CA1E28F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9974" cy="47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628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591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How Review I Feedback Was Addressed</vt:lpstr>
      <vt:lpstr>Project Overview</vt:lpstr>
      <vt:lpstr>Experimental Setup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Interpretation, Analysis, and Discussion</vt:lpstr>
      <vt:lpstr>Key Result Summary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Potta Sai Varshith</dc:creator>
  <cp:keywords/>
  <dc:description>generated using python-pptx</dc:description>
  <cp:lastModifiedBy>Potta Sai Varshith</cp:lastModifiedBy>
  <cp:revision>12</cp:revision>
  <dcterms:created xsi:type="dcterms:W3CDTF">2013-01-27T09:14:16Z</dcterms:created>
  <dcterms:modified xsi:type="dcterms:W3CDTF">2026-04-19T11:16:40Z</dcterms:modified>
  <cp:category/>
</cp:coreProperties>
</file>